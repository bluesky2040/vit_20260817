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  <p:sldId id="260" r:id="rId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9" d="100"/>
          <a:sy n="99" d="100"/>
        </p:scale>
        <p:origin x="84" y="3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D751E0-7757-BC72-B668-98AEAD60FB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4B3575B-08F4-977E-2225-1D55A7BEF1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3CE640C-A5EF-8543-B02C-EA833FDB53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3D135E-06B3-4107-8834-EEECA44D1432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B6A79A8-17C7-861A-987F-4A59752FA8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2C36016-6647-E964-758F-2E8DBBCE60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6E255-F432-4464-913F-81F5DE93111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7974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3202D6-CCAB-CB6F-38C4-6D03140D0D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53A688A-FBFE-9ED6-1932-317B3CBB92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E0937A6-1BE5-B5C1-7840-1B9AC8EE55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3D135E-06B3-4107-8834-EEECA44D1432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FF16AD-65EC-6AF9-7E36-FCC87F0C58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28EFEE-CF45-8D21-5638-38EAF6A413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6E255-F432-4464-913F-81F5DE93111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14432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4AF409-B939-C987-4EB2-59FB01ACAF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7FFE21A-A49F-6597-472D-DF92A88F65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EED5745-90D7-53E9-394F-6F9EF88A5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3D135E-06B3-4107-8834-EEECA44D1432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308F690-0C6F-1ADE-CD45-E069C17C0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6788BBC-D16C-6828-A2E7-3DEB5CBF3A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6E255-F432-4464-913F-81F5DE93111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90425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E02C53-FC4F-6FFA-6AF3-BC4E027FBB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999525C-59A9-2011-539A-CC5AA88444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5D62D53-BAEE-0107-F9DA-8316B39D89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1C3DAF6-C3DE-371B-3E3C-D2330C65ED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3D135E-06B3-4107-8834-EEECA44D1432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AF028B7-FD86-6C01-4769-05CAECA0A1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1DB206-A1B0-8F17-328F-B5058C78D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6E255-F432-4464-913F-81F5DE93111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07983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EA8ECE-CB33-F9F3-EFBD-7FBD54D428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A52E1D4-F19F-61BB-16A9-E98D0E77CD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D904748-794E-F828-8716-C9B5B52267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0791745-C6EF-353E-A982-3533395CB21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99DFC1B-2F92-44BE-13B6-DBDF822E897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3B5BA4B-33FD-371D-22AA-18A08BCCB4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3D135E-06B3-4107-8834-EEECA44D1432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653AF49-BC66-297C-A093-528DCAA4EA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8D7BD42-92BA-8A32-29CD-F65B0E099F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6E255-F432-4464-913F-81F5DE93111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76945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5BFAE40-C95E-DA13-E773-B5F4AA546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4DCD9FC-E12C-E1C5-0F36-FCA10A55F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3D135E-06B3-4107-8834-EEECA44D1432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8497119-5D28-9F5E-CE08-CAA6E54ED4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19BDA71-FB17-DA08-F090-F08099044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6E255-F432-4464-913F-81F5DE93111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63103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014C2F3-3AAB-E5D7-25C5-D8A79322A0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3D135E-06B3-4107-8834-EEECA44D1432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F0BA1248-E496-354B-5C55-4C25C4D45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F64581-1630-694A-4F42-45BD52159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6E255-F432-4464-913F-81F5DE93111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41198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8CA38D-C7EA-1246-4F97-F8776198A4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BA24C08-E8E5-B4FB-C0DD-45441BFE21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4822B29-2EBB-D5F2-7920-5A16370864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FA334E4-C71C-80E4-C142-C900959E00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3D135E-06B3-4107-8834-EEECA44D1432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5D04DBB-4EA4-B55B-8262-9DA697002B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42E44FC-E6DD-8E2D-64EE-1ADF962EA1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6E255-F432-4464-913F-81F5DE93111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23025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E96699-1980-7D61-812A-9A7E286FFE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22A7E741-81C5-B7CA-7171-9D9AE470AED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5F3361D-8EAE-E823-F6A2-B230696A92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FBA4292-4F64-FC60-8419-FBAFA62274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3D135E-06B3-4107-8834-EEECA44D1432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F8139D9-5283-6978-6F09-288B32094D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5D12343-C954-8F23-3AC3-CB04976970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6E255-F432-4464-913F-81F5DE93111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07633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449B5A-D65E-EBD0-932A-E1134DB21E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41D04F6-06EA-A1A3-5B28-4E620693C2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3F4B044-1492-A3FD-375A-9C935F1C16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3D135E-06B3-4107-8834-EEECA44D1432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26F9329-736C-754D-F6FC-1C1C05C304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58BCF9C-CE67-8FC7-D661-416B92917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6E255-F432-4464-913F-81F5DE93111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18641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938CC258-AE0A-9430-89DB-0FDB55EFCB8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BC529C5-64A5-27A2-5EE5-D90FA319F2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F3691C0-E04B-488D-9E5E-822F44176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3D135E-06B3-4107-8834-EEECA44D1432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D66601D-5F07-1213-2459-C13188FE71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C141BBE-6983-8B41-182F-93367837A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6E255-F432-4464-913F-81F5DE93111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21064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CCECF7A-88D6-3F43-F623-EE18121524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6B6CB53-594D-7F72-43F1-A5524A3AD3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8F982A-8222-D311-5DD6-958DDC4535E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3D135E-06B3-4107-8834-EEECA44D1432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50B65F5-09B5-79D3-BFB7-44FFF890FA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E10A8B8-E442-3B39-2C37-4E90268881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76E255-F432-4464-913F-81F5DE93111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83955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4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F729C4F-D4E9-9B0D-4CBF-A6ADCDE9BC6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884"/>
          <a:stretch>
            <a:fillRect/>
          </a:stretch>
        </p:blipFill>
        <p:spPr>
          <a:xfrm>
            <a:off x="29499" y="1038027"/>
            <a:ext cx="5344134" cy="416300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9988F10-7B2A-9435-1756-3AA06087C6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1012" y="1152343"/>
            <a:ext cx="1886213" cy="393437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D957AC76-9A90-29B6-8ACD-F26BCD9E11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6862" y="3043315"/>
            <a:ext cx="5115639" cy="1086002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09DF442D-38D1-0737-1047-83182C6FCDC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323" t="1724"/>
          <a:stretch>
            <a:fillRect/>
          </a:stretch>
        </p:blipFill>
        <p:spPr>
          <a:xfrm>
            <a:off x="7274611" y="4350223"/>
            <a:ext cx="4660140" cy="1086002"/>
          </a:xfrm>
          <a:prstGeom prst="rect">
            <a:avLst/>
          </a:prstGeom>
        </p:spPr>
      </p:pic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F29DF626-F0B5-578B-9391-656C7C28562D}"/>
              </a:ext>
            </a:extLst>
          </p:cNvPr>
          <p:cNvSpPr/>
          <p:nvPr/>
        </p:nvSpPr>
        <p:spPr>
          <a:xfrm>
            <a:off x="7354528" y="1720644"/>
            <a:ext cx="1886213" cy="884903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662295A-CF40-CA5D-9933-401CFC1ED8EC}"/>
              </a:ext>
            </a:extLst>
          </p:cNvPr>
          <p:cNvSpPr/>
          <p:nvPr/>
        </p:nvSpPr>
        <p:spPr>
          <a:xfrm>
            <a:off x="7580671" y="2300748"/>
            <a:ext cx="1445342" cy="22614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FC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369243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118D6DAE-1172-DB69-AAE3-71FA601FC2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043" y="5763179"/>
            <a:ext cx="895475" cy="85737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188033AC-5618-C39A-3D76-D4263F58CA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680" y="5081563"/>
            <a:ext cx="3067478" cy="352474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873DD2DD-0277-CDDE-02ED-CA480BBC412F}"/>
              </a:ext>
            </a:extLst>
          </p:cNvPr>
          <p:cNvSpPr/>
          <p:nvPr/>
        </p:nvSpPr>
        <p:spPr>
          <a:xfrm>
            <a:off x="2453518" y="6124509"/>
            <a:ext cx="1341640" cy="15388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</a:bodyPr>
          <a:lstStyle/>
          <a:p>
            <a:pPr algn="ctr">
              <a:lnSpc>
                <a:spcPts val="1200"/>
              </a:lnSpc>
            </a:pPr>
            <a:r>
              <a:rPr lang="ko-KR" altLang="ko-KR" sz="1000" dirty="0">
                <a:solidFill>
                  <a:schemeClr val="tx1"/>
                </a:solidFill>
              </a:rPr>
              <a:t>① 패치로 자르기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201E8B9-F2C0-4468-8E3E-ABB358DAB834}"/>
              </a:ext>
            </a:extLst>
          </p:cNvPr>
          <p:cNvSpPr/>
          <p:nvPr/>
        </p:nvSpPr>
        <p:spPr>
          <a:xfrm>
            <a:off x="2323978" y="5601188"/>
            <a:ext cx="1341640" cy="15388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</a:bodyPr>
          <a:lstStyle/>
          <a:p>
            <a:pPr indent="0" algn="l">
              <a:buNone/>
            </a:pPr>
            <a:r>
              <a:rPr lang="ko-KR" altLang="ko-KR" sz="1000" b="0" i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② </a:t>
            </a:r>
            <a:r>
              <a:rPr lang="ko-KR" altLang="ko-KR" sz="1000" b="0" i="0" dirty="0" err="1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Linear</a:t>
            </a:r>
            <a:r>
              <a:rPr lang="ko-KR" altLang="ko-KR" sz="1000" b="0" i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000" b="0" i="0" dirty="0" err="1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임베딩</a:t>
            </a:r>
            <a:endParaRPr lang="ko-KR" altLang="ko-KR" sz="1000" b="0" i="0" dirty="0">
              <a:solidFill>
                <a:schemeClr val="tx1"/>
              </a:solidFill>
              <a:effectLst/>
              <a:latin typeface="Courier New" panose="02070309020205020404" pitchFamily="49" charset="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65865B5C-61CF-21B1-7DAC-1D8B25F486A3}"/>
              </a:ext>
            </a:extLst>
          </p:cNvPr>
          <p:cNvSpPr/>
          <p:nvPr/>
        </p:nvSpPr>
        <p:spPr>
          <a:xfrm>
            <a:off x="919779" y="5587029"/>
            <a:ext cx="1341640" cy="15388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</a:bodyPr>
          <a:lstStyle/>
          <a:p>
            <a:pPr indent="0" algn="l">
              <a:buNone/>
            </a:pPr>
            <a:r>
              <a:rPr lang="en-US" altLang="ko-KR" sz="1000" b="0" i="0" dirty="0" err="1">
                <a:solidFill>
                  <a:schemeClr val="tx1"/>
                </a:solidFill>
                <a:effectLst/>
                <a:latin typeface="Courier New" panose="02070309020205020404" pitchFamily="49" charset="0"/>
              </a:rPr>
              <a:t>Flatterning</a:t>
            </a:r>
            <a:endParaRPr lang="ko-KR" altLang="ko-KR" sz="1000" b="0" i="0" dirty="0">
              <a:solidFill>
                <a:schemeClr val="tx1"/>
              </a:solidFill>
              <a:effectLst/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01616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DEB0AD86-2685-DAB6-1B18-71623675C1C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87" t="17455"/>
          <a:stretch>
            <a:fillRect/>
          </a:stretch>
        </p:blipFill>
        <p:spPr>
          <a:xfrm>
            <a:off x="162561" y="5264865"/>
            <a:ext cx="1981200" cy="1546709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87EB91BD-781E-DF06-3644-AB3A0D9AD0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7734" y="5264865"/>
            <a:ext cx="2193811" cy="1335480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0329BCF8-ED6D-7217-56F9-E51BEBA2D14D}"/>
              </a:ext>
            </a:extLst>
          </p:cNvPr>
          <p:cNvSpPr/>
          <p:nvPr/>
        </p:nvSpPr>
        <p:spPr>
          <a:xfrm>
            <a:off x="553598" y="4822216"/>
            <a:ext cx="1590162" cy="3077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</a:bodyPr>
          <a:lstStyle/>
          <a:p>
            <a:pPr algn="ctr">
              <a:lnSpc>
                <a:spcPts val="1200"/>
              </a:lnSpc>
            </a:pPr>
            <a:r>
              <a:rPr lang="ko-KR" altLang="en-US" sz="1000" dirty="0">
                <a:solidFill>
                  <a:schemeClr val="tx1"/>
                </a:solidFill>
              </a:rPr>
              <a:t>원본 </a:t>
            </a:r>
            <a:r>
              <a:rPr lang="en-US" altLang="ko-KR" sz="1000" dirty="0">
                <a:solidFill>
                  <a:schemeClr val="tx1"/>
                </a:solidFill>
              </a:rPr>
              <a:t>MNIST </a:t>
            </a:r>
            <a:r>
              <a:rPr lang="ko-KR" altLang="en-US" sz="1000" dirty="0">
                <a:solidFill>
                  <a:schemeClr val="tx1"/>
                </a:solidFill>
              </a:rPr>
              <a:t>이미지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ts val="12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(28X28)</a:t>
            </a:r>
            <a:endParaRPr lang="ko-KR" altLang="ko-KR" sz="1000" dirty="0">
              <a:solidFill>
                <a:schemeClr val="tx1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6BD5B35C-0F76-AA55-B335-18DC2D91CD6D}"/>
              </a:ext>
            </a:extLst>
          </p:cNvPr>
          <p:cNvSpPr/>
          <p:nvPr/>
        </p:nvSpPr>
        <p:spPr>
          <a:xfrm>
            <a:off x="3228278" y="4822216"/>
            <a:ext cx="1752722" cy="461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7X7 </a:t>
            </a:r>
            <a:r>
              <a:rPr lang="ko-KR" altLang="en-US" sz="1000" dirty="0">
                <a:solidFill>
                  <a:schemeClr val="tx1"/>
                </a:solidFill>
              </a:rPr>
              <a:t>패치로 분할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>
              <a:lnSpc>
                <a:spcPts val="1200"/>
              </a:lnSpc>
            </a:pPr>
            <a:r>
              <a:rPr lang="en-US" altLang="ko-KR" sz="1000" dirty="0">
                <a:solidFill>
                  <a:schemeClr val="tx1"/>
                </a:solidFill>
              </a:rPr>
              <a:t>(</a:t>
            </a:r>
            <a:r>
              <a:rPr lang="ko-KR" altLang="en-US" sz="1000" dirty="0">
                <a:solidFill>
                  <a:schemeClr val="tx1"/>
                </a:solidFill>
              </a:rPr>
              <a:t>총 </a:t>
            </a:r>
            <a:r>
              <a:rPr lang="en-US" altLang="ko-KR" sz="1000" dirty="0">
                <a:solidFill>
                  <a:schemeClr val="tx1"/>
                </a:solidFill>
              </a:rPr>
              <a:t>49</a:t>
            </a:r>
            <a:r>
              <a:rPr lang="ko-KR" altLang="en-US" sz="1000" dirty="0">
                <a:solidFill>
                  <a:schemeClr val="tx1"/>
                </a:solidFill>
              </a:rPr>
              <a:t>개 패치</a:t>
            </a:r>
            <a:r>
              <a:rPr lang="en-US" altLang="ko-KR" sz="1000" dirty="0">
                <a:solidFill>
                  <a:schemeClr val="tx1"/>
                </a:solidFill>
              </a:rPr>
              <a:t>)</a:t>
            </a:r>
          </a:p>
          <a:p>
            <a:pPr algn="ctr">
              <a:lnSpc>
                <a:spcPts val="1200"/>
              </a:lnSpc>
            </a:pPr>
            <a:r>
              <a:rPr lang="ko-KR" altLang="en-US" sz="1000" b="0" i="0" dirty="0">
                <a:solidFill>
                  <a:schemeClr val="tx1"/>
                </a:solidFill>
                <a:effectLst/>
                <a:latin typeface="-apple-system"/>
              </a:rPr>
              <a:t>패치 하나당 크기 </a:t>
            </a:r>
            <a:r>
              <a:rPr lang="en-US" altLang="ko-KR" sz="1000" b="0" i="0" dirty="0">
                <a:solidFill>
                  <a:schemeClr val="tx1"/>
                </a:solidFill>
                <a:effectLst/>
                <a:latin typeface="-apple-system"/>
              </a:rPr>
              <a:t>:</a:t>
            </a:r>
            <a:r>
              <a:rPr lang="ko-KR" altLang="ko-KR" sz="1000" b="0" i="0" dirty="0">
                <a:solidFill>
                  <a:schemeClr val="tx1"/>
                </a:solidFill>
                <a:effectLst/>
                <a:latin typeface="-apple-system"/>
              </a:rPr>
              <a:t> 4×4 </a:t>
            </a:r>
            <a:endParaRPr lang="ko-KR" altLang="ko-KR" sz="1000" dirty="0">
              <a:solidFill>
                <a:schemeClr val="tx1"/>
              </a:solidFill>
            </a:endParaRP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B1E520D2-683C-0767-12A1-83DAA1E1B084}"/>
              </a:ext>
            </a:extLst>
          </p:cNvPr>
          <p:cNvCxnSpPr>
            <a:cxnSpLocks/>
          </p:cNvCxnSpPr>
          <p:nvPr/>
        </p:nvCxnSpPr>
        <p:spPr>
          <a:xfrm>
            <a:off x="2143760" y="5874667"/>
            <a:ext cx="792000" cy="0"/>
          </a:xfrm>
          <a:prstGeom prst="straightConnector1">
            <a:avLst/>
          </a:prstGeom>
          <a:ln w="31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EB4119A8-9163-88DD-D79D-7C7852C4556B}"/>
              </a:ext>
            </a:extLst>
          </p:cNvPr>
          <p:cNvSpPr/>
          <p:nvPr/>
        </p:nvSpPr>
        <p:spPr>
          <a:xfrm>
            <a:off x="4095338" y="4488458"/>
            <a:ext cx="1161216" cy="3077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</a:bodyPr>
          <a:lstStyle/>
          <a:p>
            <a:pPr indent="0" algn="ctr">
              <a:buNone/>
            </a:pPr>
            <a:r>
              <a:rPr lang="ko-KR" altLang="ko-KR" sz="1000" b="0" i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① 패치로 자르기</a:t>
            </a:r>
            <a:r>
              <a:rPr lang="en-US" altLang="ko-KR" sz="1000" b="0" i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(Step 2)</a:t>
            </a:r>
            <a:endParaRPr lang="ko-KR" altLang="ko-KR" sz="1000" b="0" i="0" dirty="0">
              <a:solidFill>
                <a:schemeClr val="tx1"/>
              </a:solidFill>
              <a:effectLst/>
              <a:latin typeface="Courier New" panose="02070309020205020404" pitchFamily="49" charset="0"/>
            </a:endParaRPr>
          </a:p>
        </p:txBody>
      </p: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FE681898-63BB-02B8-F794-7356F0AA37AD}"/>
              </a:ext>
            </a:extLst>
          </p:cNvPr>
          <p:cNvGrpSpPr/>
          <p:nvPr/>
        </p:nvGrpSpPr>
        <p:grpSpPr>
          <a:xfrm>
            <a:off x="355602" y="3875124"/>
            <a:ext cx="5364476" cy="612000"/>
            <a:chOff x="374933" y="2476733"/>
            <a:chExt cx="9593014" cy="1581371"/>
          </a:xfrm>
        </p:grpSpPr>
        <p:pic>
          <p:nvPicPr>
            <p:cNvPr id="21" name="그림 20">
              <a:extLst>
                <a:ext uri="{FF2B5EF4-FFF2-40B4-BE49-F238E27FC236}">
                  <a16:creationId xmlns:a16="http://schemas.microsoft.com/office/drawing/2014/main" id="{5DF24594-10F4-E4FE-161E-27500224437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74933" y="2476733"/>
              <a:ext cx="9593014" cy="1581371"/>
            </a:xfrm>
            <a:prstGeom prst="rect">
              <a:avLst/>
            </a:prstGeom>
          </p:spPr>
        </p:pic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7E7A297A-EC48-960B-775D-6A002A577FA9}"/>
                </a:ext>
              </a:extLst>
            </p:cNvPr>
            <p:cNvSpPr/>
            <p:nvPr/>
          </p:nvSpPr>
          <p:spPr>
            <a:xfrm>
              <a:off x="6289040" y="3830320"/>
              <a:ext cx="3556000" cy="22778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A566D27B-A323-4E2A-E81C-8B76246A4DB1}"/>
              </a:ext>
            </a:extLst>
          </p:cNvPr>
          <p:cNvCxnSpPr>
            <a:cxnSpLocks/>
          </p:cNvCxnSpPr>
          <p:nvPr/>
        </p:nvCxnSpPr>
        <p:spPr>
          <a:xfrm flipV="1">
            <a:off x="4104639" y="4497886"/>
            <a:ext cx="0" cy="252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A8DBCB71-36F7-F4F6-9901-EB7B03062EDD}"/>
              </a:ext>
            </a:extLst>
          </p:cNvPr>
          <p:cNvCxnSpPr>
            <a:cxnSpLocks/>
          </p:cNvCxnSpPr>
          <p:nvPr/>
        </p:nvCxnSpPr>
        <p:spPr>
          <a:xfrm flipV="1">
            <a:off x="3228278" y="3618484"/>
            <a:ext cx="0" cy="252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C5C2501E-95F8-143E-6F08-851F9429C86A}"/>
              </a:ext>
            </a:extLst>
          </p:cNvPr>
          <p:cNvSpPr/>
          <p:nvPr/>
        </p:nvSpPr>
        <p:spPr>
          <a:xfrm>
            <a:off x="543439" y="3050473"/>
            <a:ext cx="252000" cy="468000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53775493-18D2-121D-A470-EA8BE3A30B96}"/>
              </a:ext>
            </a:extLst>
          </p:cNvPr>
          <p:cNvSpPr/>
          <p:nvPr/>
        </p:nvSpPr>
        <p:spPr>
          <a:xfrm>
            <a:off x="214831" y="3603002"/>
            <a:ext cx="1457124" cy="15388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</a:bodyPr>
          <a:lstStyle/>
          <a:p>
            <a:r>
              <a:rPr lang="ko-KR" altLang="ko-KR" sz="1000" dirty="0">
                <a:solidFill>
                  <a:schemeClr val="tx1"/>
                </a:solidFill>
              </a:rPr>
              <a:t>③ CLS 토큰 추가</a:t>
            </a:r>
            <a:r>
              <a:rPr lang="en-US" altLang="ko-KR" sz="1000" dirty="0">
                <a:solidFill>
                  <a:schemeClr val="tx1"/>
                </a:solidFill>
              </a:rPr>
              <a:t> (Step 4)</a:t>
            </a:r>
            <a:endParaRPr lang="ko-KR" altLang="ko-KR" sz="1000" dirty="0">
              <a:solidFill>
                <a:schemeClr val="tx1"/>
              </a:solidFill>
            </a:endParaRP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66E80101-4A02-347D-C2EA-AB602455A67E}"/>
              </a:ext>
            </a:extLst>
          </p:cNvPr>
          <p:cNvSpPr/>
          <p:nvPr/>
        </p:nvSpPr>
        <p:spPr>
          <a:xfrm>
            <a:off x="863604" y="3050473"/>
            <a:ext cx="4787741" cy="49784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chemeClr val="tx1"/>
                </a:solidFill>
              </a:rPr>
              <a:t>② </a:t>
            </a:r>
            <a:r>
              <a:rPr lang="ko-KR" altLang="ko-KR" dirty="0" err="1">
                <a:solidFill>
                  <a:schemeClr val="tx1"/>
                </a:solidFill>
              </a:rPr>
              <a:t>Linear</a:t>
            </a:r>
            <a:r>
              <a:rPr lang="ko-KR" altLang="ko-KR" dirty="0">
                <a:solidFill>
                  <a:schemeClr val="tx1"/>
                </a:solidFill>
              </a:rPr>
              <a:t> </a:t>
            </a:r>
            <a:r>
              <a:rPr lang="en-US" altLang="ko-KR" dirty="0">
                <a:solidFill>
                  <a:schemeClr val="tx1"/>
                </a:solidFill>
              </a:rPr>
              <a:t>Embedding (E) (Step 3)</a:t>
            </a:r>
            <a:endParaRPr lang="ko-KR" altLang="ko-KR" dirty="0">
              <a:solidFill>
                <a:schemeClr val="tx1"/>
              </a:solidFill>
            </a:endParaRPr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1E1EFD21-DDC5-C9F5-0EB5-F57153A761CA}"/>
              </a:ext>
            </a:extLst>
          </p:cNvPr>
          <p:cNvSpPr/>
          <p:nvPr/>
        </p:nvSpPr>
        <p:spPr>
          <a:xfrm>
            <a:off x="3007734" y="2458720"/>
            <a:ext cx="487306" cy="42718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+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40" name="순서도: 논리합 39">
            <a:extLst>
              <a:ext uri="{FF2B5EF4-FFF2-40B4-BE49-F238E27FC236}">
                <a16:creationId xmlns:a16="http://schemas.microsoft.com/office/drawing/2014/main" id="{1E408075-A2A3-1F36-993B-0A0A67E9C3B1}"/>
              </a:ext>
            </a:extLst>
          </p:cNvPr>
          <p:cNvSpPr/>
          <p:nvPr/>
        </p:nvSpPr>
        <p:spPr>
          <a:xfrm rot="19501396">
            <a:off x="1752761" y="2456628"/>
            <a:ext cx="487306" cy="427184"/>
          </a:xfrm>
          <a:prstGeom prst="flowChartOr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C68F1519-44D9-3029-1399-4EA3E42B6905}"/>
              </a:ext>
            </a:extLst>
          </p:cNvPr>
          <p:cNvSpPr/>
          <p:nvPr/>
        </p:nvSpPr>
        <p:spPr>
          <a:xfrm>
            <a:off x="304314" y="2454334"/>
            <a:ext cx="1450287" cy="461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</a:bodyPr>
          <a:lstStyle/>
          <a:p>
            <a:pPr indent="0" algn="l">
              <a:buNone/>
            </a:pPr>
            <a:r>
              <a:rPr lang="ko-KR" altLang="ko-KR" sz="1000" b="0" i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④ 위치 </a:t>
            </a:r>
            <a:r>
              <a:rPr lang="ko-KR" altLang="ko-KR" sz="1000" b="0" i="0" dirty="0" err="1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임베딩</a:t>
            </a:r>
            <a:r>
              <a:rPr lang="ko-KR" altLang="ko-KR" sz="1000" b="0" i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더하기</a:t>
            </a:r>
            <a:endParaRPr lang="en-US" altLang="ko-KR" sz="1000" b="0" i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indent="0" algn="l">
              <a:buNone/>
            </a:pPr>
            <a:r>
              <a:rPr lang="en-US" altLang="ko-KR" sz="1000" dirty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en-US" altLang="ko-KR" sz="1000" b="0" i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(Step 5)</a:t>
            </a:r>
          </a:p>
          <a:p>
            <a:pPr indent="0" algn="l">
              <a:buNone/>
            </a:pPr>
            <a:r>
              <a:rPr lang="en-US" altLang="ko-KR" sz="1000" dirty="0">
                <a:solidFill>
                  <a:schemeClr val="tx1"/>
                </a:solidFill>
                <a:latin typeface="Consolas" panose="020B0609020204030204" pitchFamily="49" charset="0"/>
              </a:rPr>
              <a:t>Positional Embedding</a:t>
            </a:r>
            <a:endParaRPr lang="ko-KR" altLang="ko-KR" sz="1000" b="0" i="0" dirty="0">
              <a:solidFill>
                <a:schemeClr val="tx1"/>
              </a:solidFill>
              <a:effectLst/>
              <a:latin typeface="Courier New" panose="02070309020205020404" pitchFamily="49" charset="0"/>
            </a:endParaRPr>
          </a:p>
        </p:txBody>
      </p: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477E0AE2-8E66-2316-4887-97D40FC25D8B}"/>
              </a:ext>
            </a:extLst>
          </p:cNvPr>
          <p:cNvCxnSpPr>
            <a:cxnSpLocks/>
            <a:stCxn id="40" idx="5"/>
            <a:endCxn id="39" idx="2"/>
          </p:cNvCxnSpPr>
          <p:nvPr/>
        </p:nvCxnSpPr>
        <p:spPr>
          <a:xfrm flipV="1">
            <a:off x="2224163" y="2672312"/>
            <a:ext cx="783571" cy="228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0AA9348E-EC50-3600-F637-722CEE6CBDE7}"/>
              </a:ext>
            </a:extLst>
          </p:cNvPr>
          <p:cNvSpPr/>
          <p:nvPr/>
        </p:nvSpPr>
        <p:spPr>
          <a:xfrm>
            <a:off x="2296908" y="2694334"/>
            <a:ext cx="487306" cy="15388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</a:bodyPr>
          <a:lstStyle/>
          <a:p>
            <a:r>
              <a:rPr lang="en-US" altLang="ko-KR" sz="1000" dirty="0">
                <a:solidFill>
                  <a:schemeClr val="tx1"/>
                </a:solidFill>
              </a:rPr>
              <a:t>Epos</a:t>
            </a:r>
            <a:endParaRPr lang="ko-KR" altLang="ko-KR" sz="1000" dirty="0">
              <a:solidFill>
                <a:schemeClr val="tx1"/>
              </a:solidFill>
            </a:endParaRPr>
          </a:p>
        </p:txBody>
      </p: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5E0E6A20-CF80-8E63-A556-F0B7CEC0C822}"/>
              </a:ext>
            </a:extLst>
          </p:cNvPr>
          <p:cNvCxnSpPr>
            <a:cxnSpLocks/>
          </p:cNvCxnSpPr>
          <p:nvPr/>
        </p:nvCxnSpPr>
        <p:spPr>
          <a:xfrm flipV="1">
            <a:off x="3251387" y="2225040"/>
            <a:ext cx="0" cy="216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46EBDE2C-D111-8E2E-7C30-DECC6185AD0E}"/>
              </a:ext>
            </a:extLst>
          </p:cNvPr>
          <p:cNvCxnSpPr>
            <a:cxnSpLocks/>
          </p:cNvCxnSpPr>
          <p:nvPr/>
        </p:nvCxnSpPr>
        <p:spPr>
          <a:xfrm flipV="1">
            <a:off x="3251387" y="2896064"/>
            <a:ext cx="0" cy="144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5EE48C4B-83A4-64F0-FDAC-4ED300C80F90}"/>
              </a:ext>
            </a:extLst>
          </p:cNvPr>
          <p:cNvSpPr/>
          <p:nvPr/>
        </p:nvSpPr>
        <p:spPr>
          <a:xfrm>
            <a:off x="599446" y="1706627"/>
            <a:ext cx="5051898" cy="49784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chemeClr val="tx1"/>
                </a:solidFill>
              </a:rPr>
              <a:t>⑤ </a:t>
            </a:r>
            <a:r>
              <a:rPr lang="ko-KR" altLang="ko-KR" dirty="0" err="1">
                <a:solidFill>
                  <a:schemeClr val="tx1"/>
                </a:solidFill>
              </a:rPr>
              <a:t>Transformer</a:t>
            </a:r>
            <a:r>
              <a:rPr lang="ko-KR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Encoder</a:t>
            </a:r>
            <a:r>
              <a:rPr lang="ko-KR" altLang="ko-KR" dirty="0">
                <a:solidFill>
                  <a:schemeClr val="tx1"/>
                </a:solidFill>
              </a:rPr>
              <a:t> × 6회 반복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en-US" altLang="ko-KR" dirty="0">
                <a:solidFill>
                  <a:schemeClr val="tx1"/>
                </a:solidFill>
              </a:rPr>
              <a:t>(Step 6</a:t>
            </a:r>
            <a:r>
              <a:rPr lang="ko-KR" altLang="ko-KR" dirty="0">
                <a:solidFill>
                  <a:schemeClr val="tx1"/>
                </a:solidFill>
              </a:rPr>
              <a:t>〮</a:t>
            </a:r>
            <a:r>
              <a:rPr lang="en-US" altLang="ko-KR" dirty="0">
                <a:solidFill>
                  <a:schemeClr val="tx1"/>
                </a:solidFill>
              </a:rPr>
              <a:t>7〮8)</a:t>
            </a:r>
            <a:endParaRPr lang="ko-KR" altLang="ko-KR" dirty="0">
              <a:solidFill>
                <a:schemeClr val="tx1"/>
              </a:solidFill>
            </a:endParaRP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8414577B-987F-F2E1-CBCE-5B04EDAEBE2A}"/>
              </a:ext>
            </a:extLst>
          </p:cNvPr>
          <p:cNvSpPr/>
          <p:nvPr/>
        </p:nvSpPr>
        <p:spPr>
          <a:xfrm>
            <a:off x="3344111" y="2278509"/>
            <a:ext cx="487306" cy="15388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</a:bodyPr>
          <a:lstStyle/>
          <a:p>
            <a:r>
              <a:rPr lang="en-US" altLang="ko-KR" sz="1000" dirty="0">
                <a:solidFill>
                  <a:schemeClr val="tx1"/>
                </a:solidFill>
              </a:rPr>
              <a:t>Zo</a:t>
            </a:r>
            <a:endParaRPr lang="ko-KR" altLang="ko-KR" sz="1000" dirty="0">
              <a:solidFill>
                <a:schemeClr val="tx1"/>
              </a:solidFill>
            </a:endParaRPr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754EE352-039F-EF08-AF5F-F7B95A6A803F}"/>
              </a:ext>
            </a:extLst>
          </p:cNvPr>
          <p:cNvSpPr/>
          <p:nvPr/>
        </p:nvSpPr>
        <p:spPr>
          <a:xfrm>
            <a:off x="995681" y="1104166"/>
            <a:ext cx="4260874" cy="38716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indent="0" algn="ctr"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⑥ </a:t>
            </a:r>
            <a:r>
              <a:rPr lang="ko-KR" altLang="ko-KR" sz="1200" b="0" i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Global </a:t>
            </a:r>
            <a:r>
              <a:rPr lang="ko-KR" altLang="ko-KR" sz="1200" b="0" i="0" dirty="0" err="1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Average</a:t>
            </a:r>
            <a:r>
              <a:rPr lang="ko-KR" altLang="ko-KR" sz="1200" b="0" i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200" b="0" i="0" dirty="0" err="1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Pooling</a:t>
            </a:r>
            <a:r>
              <a:rPr lang="ko-KR" altLang="ko-KR" sz="1200" b="0" i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(50개 토큰 → 1개로 압축)</a:t>
            </a:r>
            <a:endParaRPr lang="en-US" altLang="ko-KR" sz="1200" b="0" i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indent="0" algn="ctr">
              <a:buNone/>
            </a:pPr>
            <a:r>
              <a:rPr lang="en-US" altLang="ko-KR" sz="1200" dirty="0">
                <a:solidFill>
                  <a:schemeClr val="tx1"/>
                </a:solidFill>
                <a:latin typeface="Consolas" panose="020B0609020204030204" pitchFamily="49" charset="0"/>
              </a:rPr>
              <a:t>(Step 9)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A5BBC1C0-9D15-B967-59DC-B58494406EFE}"/>
              </a:ext>
            </a:extLst>
          </p:cNvPr>
          <p:cNvSpPr/>
          <p:nvPr/>
        </p:nvSpPr>
        <p:spPr>
          <a:xfrm>
            <a:off x="2437919" y="15203"/>
            <a:ext cx="1402560" cy="387166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Class Label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1221F34E-3699-BE6E-1763-DC1F8B80E48A}"/>
              </a:ext>
            </a:extLst>
          </p:cNvPr>
          <p:cNvSpPr/>
          <p:nvPr/>
        </p:nvSpPr>
        <p:spPr>
          <a:xfrm>
            <a:off x="3394911" y="1516509"/>
            <a:ext cx="487306" cy="15388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</a:bodyPr>
          <a:lstStyle/>
          <a:p>
            <a:r>
              <a:rPr lang="en-US" altLang="ko-KR" sz="1000" dirty="0" err="1">
                <a:solidFill>
                  <a:schemeClr val="tx1"/>
                </a:solidFill>
              </a:rPr>
              <a:t>zL</a:t>
            </a:r>
            <a:endParaRPr lang="ko-KR" altLang="ko-KR" sz="1000" dirty="0">
              <a:solidFill>
                <a:schemeClr val="tx1"/>
              </a:solidFill>
            </a:endParaRPr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DF115E4F-7F31-6A95-154C-A9A7FF87D221}"/>
              </a:ext>
            </a:extLst>
          </p:cNvPr>
          <p:cNvSpPr/>
          <p:nvPr/>
        </p:nvSpPr>
        <p:spPr>
          <a:xfrm>
            <a:off x="2260345" y="533275"/>
            <a:ext cx="1747710" cy="387166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⑦ </a:t>
            </a:r>
            <a:r>
              <a:rPr lang="en-US" altLang="ko-KR" sz="1200" dirty="0">
                <a:solidFill>
                  <a:schemeClr val="tx1"/>
                </a:solidFill>
              </a:rPr>
              <a:t>Classifier (Step 10)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42064945-5A84-6C99-1AC7-11CC974D8A38}"/>
              </a:ext>
            </a:extLst>
          </p:cNvPr>
          <p:cNvCxnSpPr>
            <a:cxnSpLocks/>
            <a:stCxn id="58" idx="0"/>
            <a:endCxn id="61" idx="2"/>
          </p:cNvCxnSpPr>
          <p:nvPr/>
        </p:nvCxnSpPr>
        <p:spPr>
          <a:xfrm flipV="1">
            <a:off x="3125395" y="1491332"/>
            <a:ext cx="723" cy="2152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5B9753D7-C6DB-9227-F94F-E8C60463710B}"/>
              </a:ext>
            </a:extLst>
          </p:cNvPr>
          <p:cNvCxnSpPr>
            <a:cxnSpLocks/>
            <a:stCxn id="61" idx="0"/>
            <a:endCxn id="67" idx="2"/>
          </p:cNvCxnSpPr>
          <p:nvPr/>
        </p:nvCxnSpPr>
        <p:spPr>
          <a:xfrm flipV="1">
            <a:off x="3126118" y="920441"/>
            <a:ext cx="8082" cy="1837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36ECA819-A8F7-FCE9-076B-A38B3B1A7FF9}"/>
              </a:ext>
            </a:extLst>
          </p:cNvPr>
          <p:cNvCxnSpPr>
            <a:cxnSpLocks/>
            <a:stCxn id="67" idx="0"/>
            <a:endCxn id="63" idx="2"/>
          </p:cNvCxnSpPr>
          <p:nvPr/>
        </p:nvCxnSpPr>
        <p:spPr>
          <a:xfrm flipV="1">
            <a:off x="3134200" y="402369"/>
            <a:ext cx="4999" cy="1309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83" name="그림 82">
            <a:extLst>
              <a:ext uri="{FF2B5EF4-FFF2-40B4-BE49-F238E27FC236}">
                <a16:creationId xmlns:a16="http://schemas.microsoft.com/office/drawing/2014/main" id="{7E5D9902-F7F7-9898-82ED-B261593984D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8871" y="412611"/>
            <a:ext cx="1886213" cy="3934374"/>
          </a:xfrm>
          <a:prstGeom prst="rect">
            <a:avLst/>
          </a:prstGeom>
        </p:spPr>
      </p:pic>
      <p:pic>
        <p:nvPicPr>
          <p:cNvPr id="85" name="그림 84">
            <a:extLst>
              <a:ext uri="{FF2B5EF4-FFF2-40B4-BE49-F238E27FC236}">
                <a16:creationId xmlns:a16="http://schemas.microsoft.com/office/drawing/2014/main" id="{57C2E5AC-3445-1F0C-7271-477A581F583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4212" y="2158316"/>
            <a:ext cx="4327788" cy="1086002"/>
          </a:xfrm>
          <a:prstGeom prst="rect">
            <a:avLst/>
          </a:prstGeom>
        </p:spPr>
      </p:pic>
      <p:pic>
        <p:nvPicPr>
          <p:cNvPr id="87" name="그림 86">
            <a:extLst>
              <a:ext uri="{FF2B5EF4-FFF2-40B4-BE49-F238E27FC236}">
                <a16:creationId xmlns:a16="http://schemas.microsoft.com/office/drawing/2014/main" id="{74240AA2-9B76-D322-3350-638B207F0C29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323" t="1724"/>
          <a:stretch>
            <a:fillRect/>
          </a:stretch>
        </p:blipFill>
        <p:spPr>
          <a:xfrm>
            <a:off x="7864212" y="3566815"/>
            <a:ext cx="4257895" cy="1086002"/>
          </a:xfrm>
          <a:prstGeom prst="rect">
            <a:avLst/>
          </a:prstGeom>
        </p:spPr>
      </p:pic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18DB2017-46DC-98D3-68E5-C8A838DF7494}"/>
              </a:ext>
            </a:extLst>
          </p:cNvPr>
          <p:cNvGrpSpPr/>
          <p:nvPr/>
        </p:nvGrpSpPr>
        <p:grpSpPr>
          <a:xfrm>
            <a:off x="7901343" y="571882"/>
            <a:ext cx="1886213" cy="1225029"/>
            <a:chOff x="7934105" y="704526"/>
            <a:chExt cx="1886213" cy="1225029"/>
          </a:xfrm>
        </p:grpSpPr>
        <p:sp>
          <p:nvSpPr>
            <p:cNvPr id="95" name="사각형: 둥근 모서리 94">
              <a:extLst>
                <a:ext uri="{FF2B5EF4-FFF2-40B4-BE49-F238E27FC236}">
                  <a16:creationId xmlns:a16="http://schemas.microsoft.com/office/drawing/2014/main" id="{8065A8EB-EF88-87D2-080F-3326CFAFCB1B}"/>
                </a:ext>
              </a:extLst>
            </p:cNvPr>
            <p:cNvSpPr/>
            <p:nvPr/>
          </p:nvSpPr>
          <p:spPr>
            <a:xfrm>
              <a:off x="7934105" y="1044652"/>
              <a:ext cx="1886213" cy="884903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7" name="직사각형 96">
              <a:extLst>
                <a:ext uri="{FF2B5EF4-FFF2-40B4-BE49-F238E27FC236}">
                  <a16:creationId xmlns:a16="http://schemas.microsoft.com/office/drawing/2014/main" id="{D7C92BC9-4FC8-0985-92D9-F53E268BC2C1}"/>
                </a:ext>
              </a:extLst>
            </p:cNvPr>
            <p:cNvSpPr/>
            <p:nvPr/>
          </p:nvSpPr>
          <p:spPr>
            <a:xfrm>
              <a:off x="8160248" y="1624756"/>
              <a:ext cx="1445342" cy="22614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dirty="0">
                  <a:solidFill>
                    <a:schemeClr val="tx1"/>
                  </a:solidFill>
                </a:rPr>
                <a:t>FC</a:t>
              </a:r>
              <a:endParaRPr lang="ko-KR" altLang="en-US" sz="1000" dirty="0">
                <a:solidFill>
                  <a:schemeClr val="tx1"/>
                </a:solidFill>
              </a:endParaRPr>
            </a:p>
          </p:txBody>
        </p:sp>
        <p:sp>
          <p:nvSpPr>
            <p:cNvPr id="103" name="직사각형 102">
              <a:extLst>
                <a:ext uri="{FF2B5EF4-FFF2-40B4-BE49-F238E27FC236}">
                  <a16:creationId xmlns:a16="http://schemas.microsoft.com/office/drawing/2014/main" id="{2D64E0CA-0E64-6897-6D53-2B32A7492557}"/>
                </a:ext>
              </a:extLst>
            </p:cNvPr>
            <p:cNvSpPr/>
            <p:nvPr/>
          </p:nvSpPr>
          <p:spPr>
            <a:xfrm>
              <a:off x="8160248" y="1380916"/>
              <a:ext cx="1445342" cy="22614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dirty="0">
                  <a:solidFill>
                    <a:schemeClr val="tx1"/>
                  </a:solidFill>
                </a:rPr>
                <a:t>GELU</a:t>
              </a:r>
              <a:endParaRPr lang="ko-KR" altLang="en-US" sz="1000" dirty="0">
                <a:solidFill>
                  <a:schemeClr val="tx1"/>
                </a:solidFill>
              </a:endParaRPr>
            </a:p>
          </p:txBody>
        </p:sp>
        <p:sp>
          <p:nvSpPr>
            <p:cNvPr id="105" name="직사각형 104">
              <a:extLst>
                <a:ext uri="{FF2B5EF4-FFF2-40B4-BE49-F238E27FC236}">
                  <a16:creationId xmlns:a16="http://schemas.microsoft.com/office/drawing/2014/main" id="{DCEC69E2-9855-29F9-7D7B-8FE415B5B370}"/>
                </a:ext>
              </a:extLst>
            </p:cNvPr>
            <p:cNvSpPr/>
            <p:nvPr/>
          </p:nvSpPr>
          <p:spPr>
            <a:xfrm>
              <a:off x="8160248" y="1137076"/>
              <a:ext cx="1445342" cy="22614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dirty="0">
                  <a:solidFill>
                    <a:schemeClr val="tx1"/>
                  </a:solidFill>
                </a:rPr>
                <a:t>FC</a:t>
              </a:r>
              <a:endParaRPr lang="ko-KR" altLang="en-US" sz="1000" dirty="0">
                <a:solidFill>
                  <a:schemeClr val="tx1"/>
                </a:solidFill>
              </a:endParaRPr>
            </a:p>
          </p:txBody>
        </p:sp>
        <p:sp>
          <p:nvSpPr>
            <p:cNvPr id="107" name="직사각형 106">
              <a:extLst>
                <a:ext uri="{FF2B5EF4-FFF2-40B4-BE49-F238E27FC236}">
                  <a16:creationId xmlns:a16="http://schemas.microsoft.com/office/drawing/2014/main" id="{ACA49AF7-3EC6-22EE-74AC-709BF823442A}"/>
                </a:ext>
              </a:extLst>
            </p:cNvPr>
            <p:cNvSpPr/>
            <p:nvPr/>
          </p:nvSpPr>
          <p:spPr>
            <a:xfrm>
              <a:off x="7951977" y="704526"/>
              <a:ext cx="1837861" cy="30777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spAutoFit/>
            </a:bodyPr>
            <a:lstStyle/>
            <a:p>
              <a:pPr indent="0" algn="ctr">
                <a:buNone/>
              </a:pPr>
              <a:r>
                <a:rPr lang="en-US" altLang="ko-KR" sz="1000" b="0" i="0" dirty="0">
                  <a:solidFill>
                    <a:schemeClr val="tx1"/>
                  </a:solidFill>
                  <a:effectLst/>
                </a:rPr>
                <a:t>FC</a:t>
              </a:r>
            </a:p>
            <a:p>
              <a:pPr indent="0" algn="ctr">
                <a:buNone/>
              </a:pPr>
              <a:r>
                <a:rPr lang="en-US" altLang="ko-KR" sz="1000" dirty="0">
                  <a:solidFill>
                    <a:schemeClr val="tx1"/>
                  </a:solidFill>
                </a:rPr>
                <a:t>(Fully Connected layer)</a:t>
              </a:r>
              <a:endParaRPr lang="ko-KR" altLang="ko-KR" sz="1000" b="0" i="0" dirty="0">
                <a:solidFill>
                  <a:schemeClr val="tx1"/>
                </a:solidFill>
                <a:effectLst/>
              </a:endParaRPr>
            </a:p>
          </p:txBody>
        </p:sp>
      </p:grpSp>
      <p:sp>
        <p:nvSpPr>
          <p:cNvPr id="109" name="순서도: 수동 연산 108">
            <a:extLst>
              <a:ext uri="{FF2B5EF4-FFF2-40B4-BE49-F238E27FC236}">
                <a16:creationId xmlns:a16="http://schemas.microsoft.com/office/drawing/2014/main" id="{CDD943AC-1273-7703-6102-B2B817FD1F77}"/>
              </a:ext>
            </a:extLst>
          </p:cNvPr>
          <p:cNvSpPr/>
          <p:nvPr/>
        </p:nvSpPr>
        <p:spPr>
          <a:xfrm rot="5400000">
            <a:off x="5525135" y="1732187"/>
            <a:ext cx="759948" cy="486585"/>
          </a:xfrm>
          <a:prstGeom prst="flowChartManualOperation">
            <a:avLst/>
          </a:prstGeom>
          <a:solidFill>
            <a:schemeClr val="bg2">
              <a:lumMod val="90000"/>
              <a:alpha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순서도: 수동 연산 110">
            <a:extLst>
              <a:ext uri="{FF2B5EF4-FFF2-40B4-BE49-F238E27FC236}">
                <a16:creationId xmlns:a16="http://schemas.microsoft.com/office/drawing/2014/main" id="{E9D4215C-8CC0-6902-BAF1-8087F82964D4}"/>
              </a:ext>
            </a:extLst>
          </p:cNvPr>
          <p:cNvSpPr/>
          <p:nvPr/>
        </p:nvSpPr>
        <p:spPr>
          <a:xfrm rot="5400000">
            <a:off x="7220162" y="2569495"/>
            <a:ext cx="906276" cy="403567"/>
          </a:xfrm>
          <a:prstGeom prst="flowChartManualOperation">
            <a:avLst/>
          </a:prstGeom>
          <a:solidFill>
            <a:schemeClr val="accent2">
              <a:lumMod val="20000"/>
              <a:lumOff val="80000"/>
              <a:alpha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3" name="순서도: 수동 연산 112">
            <a:extLst>
              <a:ext uri="{FF2B5EF4-FFF2-40B4-BE49-F238E27FC236}">
                <a16:creationId xmlns:a16="http://schemas.microsoft.com/office/drawing/2014/main" id="{EDAAB231-6844-1C63-2C0F-90CB3BB34FE1}"/>
              </a:ext>
            </a:extLst>
          </p:cNvPr>
          <p:cNvSpPr/>
          <p:nvPr/>
        </p:nvSpPr>
        <p:spPr>
          <a:xfrm rot="10800000">
            <a:off x="8868577" y="3163248"/>
            <a:ext cx="1395591" cy="439754"/>
          </a:xfrm>
          <a:prstGeom prst="flowChartManualOperation">
            <a:avLst/>
          </a:prstGeom>
          <a:solidFill>
            <a:schemeClr val="accent2">
              <a:lumMod val="20000"/>
              <a:lumOff val="80000"/>
              <a:alpha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순서도: 수동 연산 114">
            <a:extLst>
              <a:ext uri="{FF2B5EF4-FFF2-40B4-BE49-F238E27FC236}">
                <a16:creationId xmlns:a16="http://schemas.microsoft.com/office/drawing/2014/main" id="{66C1D765-4D05-6DD3-485C-D496A7F350A7}"/>
              </a:ext>
            </a:extLst>
          </p:cNvPr>
          <p:cNvSpPr/>
          <p:nvPr/>
        </p:nvSpPr>
        <p:spPr>
          <a:xfrm rot="5400000">
            <a:off x="7315391" y="1160557"/>
            <a:ext cx="759948" cy="447699"/>
          </a:xfrm>
          <a:prstGeom prst="flowChartManualOperation">
            <a:avLst/>
          </a:prstGeom>
          <a:solidFill>
            <a:schemeClr val="accent1">
              <a:lumMod val="20000"/>
              <a:lumOff val="80000"/>
              <a:alpha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BCAA90F-737C-C43E-7F4B-00670AD30E98}"/>
              </a:ext>
            </a:extLst>
          </p:cNvPr>
          <p:cNvSpPr/>
          <p:nvPr/>
        </p:nvSpPr>
        <p:spPr>
          <a:xfrm>
            <a:off x="8042334" y="2013653"/>
            <a:ext cx="3761153" cy="15388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</a:bodyPr>
          <a:lstStyle/>
          <a:p>
            <a:pPr indent="0" algn="l">
              <a:buNone/>
            </a:pPr>
            <a:r>
              <a:rPr lang="en-US" altLang="ko-KR" sz="1000" dirty="0">
                <a:solidFill>
                  <a:schemeClr val="tx1"/>
                </a:solidFill>
              </a:rPr>
              <a:t>Step 6: Multi-Head Attention </a:t>
            </a:r>
            <a:r>
              <a:rPr lang="ko-KR" altLang="en-US" sz="1000" dirty="0">
                <a:solidFill>
                  <a:schemeClr val="tx1"/>
                </a:solidFill>
              </a:rPr>
              <a:t>확대</a:t>
            </a:r>
            <a:endParaRPr lang="ko-KR" altLang="ko-KR" sz="1000" b="0" i="0" dirty="0">
              <a:solidFill>
                <a:schemeClr val="tx1"/>
              </a:solidFill>
              <a:effectLst/>
              <a:latin typeface="Courier New" panose="02070309020205020404" pitchFamily="49" charset="0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DB3F503-041B-59A6-A99E-3E3A953FFAC9}"/>
              </a:ext>
            </a:extLst>
          </p:cNvPr>
          <p:cNvSpPr/>
          <p:nvPr/>
        </p:nvSpPr>
        <p:spPr>
          <a:xfrm>
            <a:off x="6078133" y="266050"/>
            <a:ext cx="3761153" cy="15388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</a:bodyPr>
          <a:lstStyle/>
          <a:p>
            <a:pPr indent="0" algn="l">
              <a:buNone/>
            </a:pPr>
            <a:r>
              <a:rPr lang="en-US" altLang="ko-KR" sz="1000" dirty="0">
                <a:solidFill>
                  <a:schemeClr val="tx1"/>
                </a:solidFill>
              </a:rPr>
              <a:t>Step 7: </a:t>
            </a:r>
            <a:r>
              <a:rPr lang="en-US" altLang="ko-KR" sz="1000" dirty="0" err="1">
                <a:solidFill>
                  <a:schemeClr val="tx1"/>
                </a:solidFill>
              </a:rPr>
              <a:t>encoder_block</a:t>
            </a:r>
            <a:r>
              <a:rPr lang="en-US" altLang="ko-KR" sz="1000" dirty="0">
                <a:solidFill>
                  <a:schemeClr val="tx1"/>
                </a:solidFill>
              </a:rPr>
              <a:t> </a:t>
            </a:r>
            <a:r>
              <a:rPr lang="ko-KR" altLang="en-US" sz="1000" dirty="0">
                <a:solidFill>
                  <a:schemeClr val="tx1"/>
                </a:solidFill>
              </a:rPr>
              <a:t>전체</a:t>
            </a:r>
            <a:endParaRPr lang="ko-KR" altLang="ko-KR" sz="1000" b="0" i="0" dirty="0">
              <a:solidFill>
                <a:schemeClr val="tx1"/>
              </a:solidFill>
              <a:effectLst/>
              <a:latin typeface="Courier New" panose="02070309020205020404" pitchFamily="49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23E4415-A523-9F30-8D99-548898D904AA}"/>
              </a:ext>
            </a:extLst>
          </p:cNvPr>
          <p:cNvSpPr/>
          <p:nvPr/>
        </p:nvSpPr>
        <p:spPr>
          <a:xfrm>
            <a:off x="6264706" y="1022646"/>
            <a:ext cx="487306" cy="15388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</a:bodyPr>
          <a:lstStyle/>
          <a:p>
            <a:r>
              <a:rPr lang="en-US" altLang="ko-KR" sz="1000" dirty="0">
                <a:solidFill>
                  <a:schemeClr val="tx1"/>
                </a:solidFill>
              </a:rPr>
              <a:t>(L=6)</a:t>
            </a:r>
            <a:endParaRPr lang="ko-KR" altLang="ko-KR" sz="1000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6202E55-0C07-AFF1-972A-B0F806B4174F}"/>
              </a:ext>
            </a:extLst>
          </p:cNvPr>
          <p:cNvSpPr/>
          <p:nvPr/>
        </p:nvSpPr>
        <p:spPr>
          <a:xfrm>
            <a:off x="10590792" y="3009590"/>
            <a:ext cx="737603" cy="15388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</a:bodyPr>
          <a:lstStyle/>
          <a:p>
            <a:r>
              <a:rPr lang="en-US" altLang="ko-KR" sz="1000" dirty="0">
                <a:solidFill>
                  <a:schemeClr val="tx1"/>
                </a:solidFill>
              </a:rPr>
              <a:t>(h=2)</a:t>
            </a:r>
            <a:endParaRPr lang="ko-KR" altLang="ko-KR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64140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548E9A5C-C3B6-9873-4835-0F91AA5FCD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7240" y="19304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66818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F7375C93-E84C-E1B2-2E2E-9CD668364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618" y="0"/>
            <a:ext cx="767476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55042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</TotalTime>
  <Words>140</Words>
  <Application>Microsoft Office PowerPoint</Application>
  <PresentationFormat>와이드스크린</PresentationFormat>
  <Paragraphs>34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11" baseType="lpstr">
      <vt:lpstr>-apple-system</vt:lpstr>
      <vt:lpstr>맑은 고딕</vt:lpstr>
      <vt:lpstr>Arial</vt:lpstr>
      <vt:lpstr>Consolas</vt:lpstr>
      <vt:lpstr>Courier New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영목 송</dc:creator>
  <cp:lastModifiedBy>yuni lhee</cp:lastModifiedBy>
  <cp:revision>19</cp:revision>
  <dcterms:created xsi:type="dcterms:W3CDTF">2026-08-18T12:05:30Z</dcterms:created>
  <dcterms:modified xsi:type="dcterms:W3CDTF">2026-08-19T23:03:28Z</dcterms:modified>
</cp:coreProperties>
</file>