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751E0-7757-BC72-B668-98AEAD60F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3575B-08F4-977E-2225-1D55A7BEF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E640C-A5EF-8543-B02C-EA833FDB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79A8-17C7-861A-987F-4A59752F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C36016-6647-E964-758F-2E8DBBCE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9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202D6-CCAB-CB6F-38C4-6D03140D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3A688A-FBFE-9ED6-1932-317B3CBB9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0937A6-1BE5-B5C1-7840-1B9AC8EE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F16AD-65EC-6AF9-7E36-FCC87F0C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8EFEE-CF45-8D21-5638-38EAF6A4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443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AF409-B939-C987-4EB2-59FB01AC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FFE21A-A49F-6597-472D-DF92A88F6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D5745-90D7-53E9-394F-6F9EF88A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8F690-0C6F-1ADE-CD45-E069C17C0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788BBC-D16C-6828-A2E7-3DEB5CBF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04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02C53-FC4F-6FFA-6AF3-BC4E027F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99525C-59A9-2011-539A-CC5AA8844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D62D53-BAEE-0107-F9DA-8316B39D8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C3DAF6-C3DE-371B-3E3C-D2330C65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F028B7-FD86-6C01-4769-05CAECA0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1DB206-A1B0-8F17-328F-B5058C78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798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A8ECE-CB33-F9F3-EFBD-7FBD54D42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52E1D4-F19F-61BB-16A9-E98D0E77C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904748-794E-F828-8716-C9B5B5226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791745-C6EF-353E-A982-3533395CB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9DFC1B-2F92-44BE-13B6-DBDF822E8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B5BA4B-33FD-371D-22AA-18A08BCC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53AF49-BC66-297C-A093-528DCAA4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D7BD42-92BA-8A32-29CD-F65B0E09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69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FAE40-C95E-DA13-E773-B5F4AA54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CD9FC-E12C-E1C5-0F36-FCA10A55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497119-5D28-9F5E-CE08-CAA6E54E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9BDA71-FB17-DA08-F090-F0809904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310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14C2F3-3AAB-E5D7-25C5-D8A79322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BA1248-E496-354B-5C55-4C25C4D4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64581-1630-694A-4F42-45BD5215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1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CA38D-C7EA-1246-4F97-F8776198A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24C08-E8E5-B4FB-C0DD-45441BFE2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822B29-2EBB-D5F2-7920-5A1637086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A334E4-C71C-80E4-C142-C900959E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D04DBB-4EA4-B55B-8262-9DA69700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2E44FC-E6DD-8E2D-64EE-1ADF962E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30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96699-1980-7D61-812A-9A7E286F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A7E741-81C5-B7CA-7171-9D9AE470A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F3361D-8EAE-E823-F6A2-B230696A9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BA4292-4F64-FC60-8419-FBAFA622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8139D9-5283-6978-6F09-288B32094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D12343-C954-8F23-3AC3-CB049769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76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49B5A-D65E-EBD0-932A-E1134DB2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1D04F6-06EA-A1A3-5B28-4E620693C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F4B044-1492-A3FD-375A-9C935F1C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F9329-736C-754D-F6FC-1C1C05C3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BCF9C-CE67-8FC7-D661-416B9291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86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8CC258-AE0A-9430-89DB-0FDB55EFC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C529C5-64A5-27A2-5EE5-D90FA319F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691C0-E04B-488D-9E5E-822F44176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6601D-5F07-1213-2459-C13188FE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141BBE-6983-8B41-182F-93367837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10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CECF7A-88D6-3F43-F623-EE181215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B6CB53-594D-7F72-43F1-A5524A3AD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F982A-8222-D311-5DD6-958DDC453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D135E-06B3-4107-8834-EEECA44D1432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0B65F5-09B5-79D3-BFB7-44FFF890F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10A8B8-E442-3B39-2C37-4E9026888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6E255-F432-4464-913F-81F5DE931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3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729C4F-D4E9-9B0D-4CBF-A6ADCDE9BC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84"/>
          <a:stretch>
            <a:fillRect/>
          </a:stretch>
        </p:blipFill>
        <p:spPr>
          <a:xfrm>
            <a:off x="29499" y="1038027"/>
            <a:ext cx="5344134" cy="41630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988F10-7B2A-9435-1756-3AA06087C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012" y="1152343"/>
            <a:ext cx="1886213" cy="39343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57AC76-9A90-29B6-8ACD-F26BCD9E1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862" y="3043315"/>
            <a:ext cx="5115639" cy="1086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9DF442D-38D1-0737-1047-83182C6FCD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23" t="1724"/>
          <a:stretch>
            <a:fillRect/>
          </a:stretch>
        </p:blipFill>
        <p:spPr>
          <a:xfrm>
            <a:off x="7274611" y="4350223"/>
            <a:ext cx="4660140" cy="1086002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9DF626-F0B5-578B-9391-656C7C28562D}"/>
              </a:ext>
            </a:extLst>
          </p:cNvPr>
          <p:cNvSpPr/>
          <p:nvPr/>
        </p:nvSpPr>
        <p:spPr>
          <a:xfrm>
            <a:off x="7354528" y="1720644"/>
            <a:ext cx="1886213" cy="8849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62295A-CF40-CA5D-9933-401CFC1ED8EC}"/>
              </a:ext>
            </a:extLst>
          </p:cNvPr>
          <p:cNvSpPr/>
          <p:nvPr/>
        </p:nvSpPr>
        <p:spPr>
          <a:xfrm>
            <a:off x="7580671" y="2300748"/>
            <a:ext cx="1445342" cy="226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FC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92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18D6DAE-1172-DB69-AAE3-71FA601FC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043" y="5763179"/>
            <a:ext cx="895475" cy="8573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8033AC-5618-C39A-3D76-D4263F58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80" y="5081563"/>
            <a:ext cx="3067478" cy="35247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73DD2DD-0277-CDDE-02ED-CA480BBC412F}"/>
              </a:ext>
            </a:extLst>
          </p:cNvPr>
          <p:cNvSpPr/>
          <p:nvPr/>
        </p:nvSpPr>
        <p:spPr>
          <a:xfrm>
            <a:off x="2453518" y="6124509"/>
            <a:ext cx="134164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lang="ko-KR" altLang="ko-KR" sz="1000" dirty="0">
                <a:solidFill>
                  <a:schemeClr val="tx1"/>
                </a:solidFill>
              </a:rPr>
              <a:t>① 패치로 자르기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01E8B9-F2C0-4468-8E3E-ABB358DAB834}"/>
              </a:ext>
            </a:extLst>
          </p:cNvPr>
          <p:cNvSpPr/>
          <p:nvPr/>
        </p:nvSpPr>
        <p:spPr>
          <a:xfrm>
            <a:off x="2323978" y="5601188"/>
            <a:ext cx="134164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indent="0" algn="l">
              <a:buNone/>
            </a:pPr>
            <a:r>
              <a:rPr lang="ko-KR" altLang="ko-KR" sz="1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② </a:t>
            </a:r>
            <a:r>
              <a:rPr lang="ko-KR" altLang="ko-KR" sz="10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ko-KR" altLang="ko-KR" sz="1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0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임베딩</a:t>
            </a:r>
            <a:endParaRPr lang="ko-KR" altLang="ko-KR" sz="1000" b="0" i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865B5C-61CF-21B1-7DAC-1D8B25F486A3}"/>
              </a:ext>
            </a:extLst>
          </p:cNvPr>
          <p:cNvSpPr/>
          <p:nvPr/>
        </p:nvSpPr>
        <p:spPr>
          <a:xfrm>
            <a:off x="919779" y="5587029"/>
            <a:ext cx="134164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indent="0" algn="l">
              <a:buNone/>
            </a:pPr>
            <a:r>
              <a:rPr lang="en-US" altLang="ko-KR" sz="1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Flatterning</a:t>
            </a:r>
            <a:endParaRPr lang="ko-KR" altLang="ko-KR" sz="1000" b="0" i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16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EB0AD86-2685-DAB6-1B18-71623675C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87" t="17455"/>
          <a:stretch>
            <a:fillRect/>
          </a:stretch>
        </p:blipFill>
        <p:spPr>
          <a:xfrm>
            <a:off x="162561" y="5264865"/>
            <a:ext cx="1981200" cy="15467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EB91BD-781E-DF06-3644-AB3A0D9AD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734" y="5264865"/>
            <a:ext cx="2193811" cy="133548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29BCF8-ED6D-7217-56F9-E51BEBA2D14D}"/>
              </a:ext>
            </a:extLst>
          </p:cNvPr>
          <p:cNvSpPr/>
          <p:nvPr/>
        </p:nvSpPr>
        <p:spPr>
          <a:xfrm>
            <a:off x="553598" y="4822216"/>
            <a:ext cx="159016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lang="ko-KR" altLang="en-US" sz="1000" dirty="0">
                <a:solidFill>
                  <a:schemeClr val="tx1"/>
                </a:solidFill>
              </a:rPr>
              <a:t>원본 </a:t>
            </a:r>
            <a:r>
              <a:rPr lang="en-US" altLang="ko-KR" sz="1000" dirty="0">
                <a:solidFill>
                  <a:schemeClr val="tx1"/>
                </a:solidFill>
              </a:rPr>
              <a:t>MNIST </a:t>
            </a:r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ts val="12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(28X28)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D5B35C-0F76-AA55-B335-18DC2D91CD6D}"/>
              </a:ext>
            </a:extLst>
          </p:cNvPr>
          <p:cNvSpPr/>
          <p:nvPr/>
        </p:nvSpPr>
        <p:spPr>
          <a:xfrm>
            <a:off x="3228278" y="4822216"/>
            <a:ext cx="1752722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7X7 </a:t>
            </a:r>
            <a:r>
              <a:rPr lang="ko-KR" altLang="en-US" sz="1000" dirty="0">
                <a:solidFill>
                  <a:schemeClr val="tx1"/>
                </a:solidFill>
              </a:rPr>
              <a:t>패치로 분할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ts val="12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총 </a:t>
            </a:r>
            <a:r>
              <a:rPr lang="en-US" altLang="ko-KR" sz="1000" dirty="0">
                <a:solidFill>
                  <a:schemeClr val="tx1"/>
                </a:solidFill>
              </a:rPr>
              <a:t>49</a:t>
            </a:r>
            <a:r>
              <a:rPr lang="ko-KR" altLang="en-US" sz="1000" dirty="0">
                <a:solidFill>
                  <a:schemeClr val="tx1"/>
                </a:solidFill>
              </a:rPr>
              <a:t>개 패치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</a:p>
          <a:p>
            <a:pPr algn="ctr">
              <a:lnSpc>
                <a:spcPts val="1200"/>
              </a:lnSpc>
            </a:pPr>
            <a:r>
              <a:rPr lang="ko-KR" altLang="en-US" sz="1000" b="0" i="0" dirty="0">
                <a:solidFill>
                  <a:schemeClr val="tx1"/>
                </a:solidFill>
                <a:effectLst/>
                <a:latin typeface="-apple-system"/>
              </a:rPr>
              <a:t>패치 하나당 크기 </a:t>
            </a:r>
            <a:r>
              <a:rPr lang="en-US" altLang="ko-KR" sz="1000" b="0" i="0" dirty="0">
                <a:solidFill>
                  <a:schemeClr val="tx1"/>
                </a:solidFill>
                <a:effectLst/>
                <a:latin typeface="-apple-system"/>
              </a:rPr>
              <a:t>:</a:t>
            </a:r>
            <a:r>
              <a:rPr lang="ko-KR" altLang="ko-KR" sz="1000" b="0" i="0" dirty="0">
                <a:solidFill>
                  <a:schemeClr val="tx1"/>
                </a:solidFill>
                <a:effectLst/>
                <a:latin typeface="-apple-system"/>
              </a:rPr>
              <a:t> 4×4 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1E520D2-683C-0767-12A1-83DAA1E1B084}"/>
              </a:ext>
            </a:extLst>
          </p:cNvPr>
          <p:cNvCxnSpPr>
            <a:cxnSpLocks/>
          </p:cNvCxnSpPr>
          <p:nvPr/>
        </p:nvCxnSpPr>
        <p:spPr>
          <a:xfrm>
            <a:off x="2143760" y="5874667"/>
            <a:ext cx="792000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4119A8-9163-88DD-D79D-7C7852C4556B}"/>
              </a:ext>
            </a:extLst>
          </p:cNvPr>
          <p:cNvSpPr/>
          <p:nvPr/>
        </p:nvSpPr>
        <p:spPr>
          <a:xfrm>
            <a:off x="4095338" y="4565402"/>
            <a:ext cx="116121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indent="0" algn="ctr">
              <a:buNone/>
            </a:pPr>
            <a:r>
              <a:rPr lang="ko-KR" altLang="ko-KR" sz="1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① 패치로 자르기</a:t>
            </a:r>
            <a:endParaRPr lang="ko-KR" altLang="ko-KR" sz="1000" b="0" i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E681898-63BB-02B8-F794-7356F0AA37AD}"/>
              </a:ext>
            </a:extLst>
          </p:cNvPr>
          <p:cNvGrpSpPr/>
          <p:nvPr/>
        </p:nvGrpSpPr>
        <p:grpSpPr>
          <a:xfrm>
            <a:off x="355602" y="3875124"/>
            <a:ext cx="5364476" cy="612000"/>
            <a:chOff x="374933" y="2476733"/>
            <a:chExt cx="9593014" cy="1581371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DF24594-10F4-E4FE-161E-275002244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4933" y="2476733"/>
              <a:ext cx="9593014" cy="1581371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E7A297A-EC48-960B-775D-6A002A577FA9}"/>
                </a:ext>
              </a:extLst>
            </p:cNvPr>
            <p:cNvSpPr/>
            <p:nvPr/>
          </p:nvSpPr>
          <p:spPr>
            <a:xfrm>
              <a:off x="6289040" y="3830320"/>
              <a:ext cx="3556000" cy="2277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566D27B-A323-4E2A-E81C-8B76246A4DB1}"/>
              </a:ext>
            </a:extLst>
          </p:cNvPr>
          <p:cNvCxnSpPr>
            <a:cxnSpLocks/>
          </p:cNvCxnSpPr>
          <p:nvPr/>
        </p:nvCxnSpPr>
        <p:spPr>
          <a:xfrm flipV="1">
            <a:off x="4104639" y="4497886"/>
            <a:ext cx="0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8DBCB71-36F7-F4F6-9901-EB7B03062EDD}"/>
              </a:ext>
            </a:extLst>
          </p:cNvPr>
          <p:cNvCxnSpPr>
            <a:cxnSpLocks/>
          </p:cNvCxnSpPr>
          <p:nvPr/>
        </p:nvCxnSpPr>
        <p:spPr>
          <a:xfrm flipV="1">
            <a:off x="3228278" y="3618484"/>
            <a:ext cx="0" cy="25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5C2501E-95F8-143E-6F08-851F9429C86A}"/>
              </a:ext>
            </a:extLst>
          </p:cNvPr>
          <p:cNvSpPr/>
          <p:nvPr/>
        </p:nvSpPr>
        <p:spPr>
          <a:xfrm>
            <a:off x="543439" y="3050473"/>
            <a:ext cx="252000" cy="4680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3775493-18D2-121D-A470-EA8BE3A30B96}"/>
              </a:ext>
            </a:extLst>
          </p:cNvPr>
          <p:cNvSpPr/>
          <p:nvPr/>
        </p:nvSpPr>
        <p:spPr>
          <a:xfrm>
            <a:off x="214831" y="3603002"/>
            <a:ext cx="116121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ko-KR" altLang="ko-KR" sz="1000" dirty="0">
                <a:solidFill>
                  <a:schemeClr val="tx1"/>
                </a:solidFill>
              </a:rPr>
              <a:t>③ CLS 토큰 추가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E80101-4A02-347D-C2EA-AB602455A67E}"/>
              </a:ext>
            </a:extLst>
          </p:cNvPr>
          <p:cNvSpPr/>
          <p:nvPr/>
        </p:nvSpPr>
        <p:spPr>
          <a:xfrm>
            <a:off x="863604" y="3050473"/>
            <a:ext cx="4787741" cy="497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chemeClr val="tx1"/>
                </a:solidFill>
              </a:rPr>
              <a:t>② </a:t>
            </a:r>
            <a:r>
              <a:rPr lang="ko-KR" altLang="ko-KR" dirty="0" err="1">
                <a:solidFill>
                  <a:schemeClr val="tx1"/>
                </a:solidFill>
              </a:rPr>
              <a:t>Linear</a:t>
            </a:r>
            <a:r>
              <a:rPr lang="ko-KR" altLang="ko-KR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Embedding (E)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E1EFD21-DDC5-C9F5-0EB5-F57153A761CA}"/>
              </a:ext>
            </a:extLst>
          </p:cNvPr>
          <p:cNvSpPr/>
          <p:nvPr/>
        </p:nvSpPr>
        <p:spPr>
          <a:xfrm>
            <a:off x="3007734" y="2458720"/>
            <a:ext cx="487306" cy="4271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순서도: 논리합 39">
            <a:extLst>
              <a:ext uri="{FF2B5EF4-FFF2-40B4-BE49-F238E27FC236}">
                <a16:creationId xmlns:a16="http://schemas.microsoft.com/office/drawing/2014/main" id="{1E408075-A2A3-1F36-993B-0A0A67E9C3B1}"/>
              </a:ext>
            </a:extLst>
          </p:cNvPr>
          <p:cNvSpPr/>
          <p:nvPr/>
        </p:nvSpPr>
        <p:spPr>
          <a:xfrm rot="19501396">
            <a:off x="1752761" y="2456628"/>
            <a:ext cx="487306" cy="427184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68F1519-44D9-3029-1399-4EA3E42B6905}"/>
              </a:ext>
            </a:extLst>
          </p:cNvPr>
          <p:cNvSpPr/>
          <p:nvPr/>
        </p:nvSpPr>
        <p:spPr>
          <a:xfrm>
            <a:off x="304314" y="2531278"/>
            <a:ext cx="145028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indent="0" algn="l">
              <a:buNone/>
            </a:pPr>
            <a:r>
              <a:rPr lang="ko-KR" altLang="ko-KR" sz="1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④ 위치 </a:t>
            </a:r>
            <a:r>
              <a:rPr lang="ko-KR" altLang="ko-KR" sz="10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임베딩</a:t>
            </a:r>
            <a:r>
              <a:rPr lang="ko-KR" altLang="ko-KR" sz="1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더하기</a:t>
            </a:r>
            <a:endParaRPr lang="en-US" altLang="ko-KR" sz="10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altLang="ko-KR" sz="1000" dirty="0">
                <a:solidFill>
                  <a:schemeClr val="tx1"/>
                </a:solidFill>
                <a:latin typeface="Consolas" panose="020B0609020204030204" pitchFamily="49" charset="0"/>
              </a:rPr>
              <a:t>Positional Embedding</a:t>
            </a:r>
            <a:endParaRPr lang="ko-KR" altLang="ko-KR" sz="1000" b="0" i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77E0AE2-8E66-2316-4887-97D40FC25D8B}"/>
              </a:ext>
            </a:extLst>
          </p:cNvPr>
          <p:cNvCxnSpPr>
            <a:cxnSpLocks/>
            <a:stCxn id="40" idx="5"/>
            <a:endCxn id="39" idx="2"/>
          </p:cNvCxnSpPr>
          <p:nvPr/>
        </p:nvCxnSpPr>
        <p:spPr>
          <a:xfrm flipV="1">
            <a:off x="2224163" y="2672312"/>
            <a:ext cx="783571" cy="22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AA9348E-EC50-3600-F637-722CEE6CBDE7}"/>
              </a:ext>
            </a:extLst>
          </p:cNvPr>
          <p:cNvSpPr/>
          <p:nvPr/>
        </p:nvSpPr>
        <p:spPr>
          <a:xfrm>
            <a:off x="2296908" y="2694334"/>
            <a:ext cx="48730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Epos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E0E6A20-CF80-8E63-A556-F0B7CEC0C822}"/>
              </a:ext>
            </a:extLst>
          </p:cNvPr>
          <p:cNvCxnSpPr>
            <a:cxnSpLocks/>
          </p:cNvCxnSpPr>
          <p:nvPr/>
        </p:nvCxnSpPr>
        <p:spPr>
          <a:xfrm flipV="1">
            <a:off x="3251387" y="2225040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6EBDE2C-D111-8E2E-7C30-DECC6185AD0E}"/>
              </a:ext>
            </a:extLst>
          </p:cNvPr>
          <p:cNvCxnSpPr>
            <a:cxnSpLocks/>
          </p:cNvCxnSpPr>
          <p:nvPr/>
        </p:nvCxnSpPr>
        <p:spPr>
          <a:xfrm flipV="1">
            <a:off x="3251387" y="289606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EE48C4B-83A4-64F0-FDAC-4ED300C80F90}"/>
              </a:ext>
            </a:extLst>
          </p:cNvPr>
          <p:cNvSpPr/>
          <p:nvPr/>
        </p:nvSpPr>
        <p:spPr>
          <a:xfrm>
            <a:off x="599446" y="1706627"/>
            <a:ext cx="5051898" cy="4978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chemeClr val="tx1"/>
                </a:solidFill>
              </a:rPr>
              <a:t>⑤ </a:t>
            </a:r>
            <a:r>
              <a:rPr lang="ko-KR" altLang="ko-KR" dirty="0" err="1">
                <a:solidFill>
                  <a:schemeClr val="tx1"/>
                </a:solidFill>
              </a:rPr>
              <a:t>Transformer</a:t>
            </a:r>
            <a:r>
              <a:rPr lang="ko-KR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Encoder</a:t>
            </a:r>
            <a:r>
              <a:rPr lang="ko-KR" altLang="ko-KR" dirty="0">
                <a:solidFill>
                  <a:schemeClr val="tx1"/>
                </a:solidFill>
              </a:rPr>
              <a:t> × 6회 반복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414577B-987F-F2E1-CBCE-5B04EDAEBE2A}"/>
              </a:ext>
            </a:extLst>
          </p:cNvPr>
          <p:cNvSpPr/>
          <p:nvPr/>
        </p:nvSpPr>
        <p:spPr>
          <a:xfrm>
            <a:off x="3344111" y="2278509"/>
            <a:ext cx="48730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Zo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54EE352-039F-EF08-AF5F-F7B95A6A803F}"/>
              </a:ext>
            </a:extLst>
          </p:cNvPr>
          <p:cNvSpPr/>
          <p:nvPr/>
        </p:nvSpPr>
        <p:spPr>
          <a:xfrm>
            <a:off x="995681" y="1104166"/>
            <a:ext cx="4260874" cy="38716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ko-KR" altLang="ko-KR" sz="12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Global </a:t>
            </a:r>
            <a:r>
              <a:rPr lang="ko-KR" altLang="ko-KR" sz="12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ko-KR" altLang="ko-KR" sz="12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Pooling</a:t>
            </a:r>
            <a:r>
              <a:rPr lang="ko-KR" altLang="ko-KR" sz="12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(50개 토큰 → 1개로 압축)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5BBC1C0-9D15-B967-59DC-B58494406EFE}"/>
              </a:ext>
            </a:extLst>
          </p:cNvPr>
          <p:cNvSpPr/>
          <p:nvPr/>
        </p:nvSpPr>
        <p:spPr>
          <a:xfrm>
            <a:off x="2437919" y="15203"/>
            <a:ext cx="1402560" cy="38716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Class Label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221F34E-3699-BE6E-1763-DC1F8B80E48A}"/>
              </a:ext>
            </a:extLst>
          </p:cNvPr>
          <p:cNvSpPr/>
          <p:nvPr/>
        </p:nvSpPr>
        <p:spPr>
          <a:xfrm>
            <a:off x="3394911" y="1516509"/>
            <a:ext cx="48730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000" dirty="0" err="1">
                <a:solidFill>
                  <a:schemeClr val="tx1"/>
                </a:solidFill>
              </a:rPr>
              <a:t>Zl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F115E4F-7F31-6A95-154C-A9A7FF87D221}"/>
              </a:ext>
            </a:extLst>
          </p:cNvPr>
          <p:cNvSpPr/>
          <p:nvPr/>
        </p:nvSpPr>
        <p:spPr>
          <a:xfrm>
            <a:off x="2427759" y="533275"/>
            <a:ext cx="1402560" cy="3871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Classifier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2064945-5A84-6C99-1AC7-11CC974D8A38}"/>
              </a:ext>
            </a:extLst>
          </p:cNvPr>
          <p:cNvCxnSpPr>
            <a:cxnSpLocks/>
            <a:stCxn id="58" idx="0"/>
            <a:endCxn id="61" idx="2"/>
          </p:cNvCxnSpPr>
          <p:nvPr/>
        </p:nvCxnSpPr>
        <p:spPr>
          <a:xfrm flipV="1">
            <a:off x="3125395" y="1491332"/>
            <a:ext cx="723" cy="215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5B9753D7-C6DB-9227-F94F-E8C60463710B}"/>
              </a:ext>
            </a:extLst>
          </p:cNvPr>
          <p:cNvCxnSpPr>
            <a:cxnSpLocks/>
            <a:stCxn id="61" idx="0"/>
            <a:endCxn id="67" idx="2"/>
          </p:cNvCxnSpPr>
          <p:nvPr/>
        </p:nvCxnSpPr>
        <p:spPr>
          <a:xfrm flipV="1">
            <a:off x="3126118" y="920441"/>
            <a:ext cx="2921" cy="183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6ECA819-A8F7-FCE9-076B-A38B3B1A7FF9}"/>
              </a:ext>
            </a:extLst>
          </p:cNvPr>
          <p:cNvCxnSpPr>
            <a:cxnSpLocks/>
            <a:stCxn id="67" idx="0"/>
            <a:endCxn id="63" idx="2"/>
          </p:cNvCxnSpPr>
          <p:nvPr/>
        </p:nvCxnSpPr>
        <p:spPr>
          <a:xfrm flipV="1">
            <a:off x="3129039" y="402369"/>
            <a:ext cx="10160" cy="130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3" name="그림 82">
            <a:extLst>
              <a:ext uri="{FF2B5EF4-FFF2-40B4-BE49-F238E27FC236}">
                <a16:creationId xmlns:a16="http://schemas.microsoft.com/office/drawing/2014/main" id="{7E5D9902-F7F7-9898-82ED-B26159398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71" y="412611"/>
            <a:ext cx="1886213" cy="3934374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57C2E5AC-3445-1F0C-7271-477A581F5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212" y="2158316"/>
            <a:ext cx="4327788" cy="1086002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74240AA2-9B76-D322-3350-638B207F0C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23" t="1724"/>
          <a:stretch>
            <a:fillRect/>
          </a:stretch>
        </p:blipFill>
        <p:spPr>
          <a:xfrm>
            <a:off x="7864212" y="3566815"/>
            <a:ext cx="4257895" cy="1086002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8DB2017-46DC-98D3-68E5-C8A838DF7494}"/>
              </a:ext>
            </a:extLst>
          </p:cNvPr>
          <p:cNvGrpSpPr/>
          <p:nvPr/>
        </p:nvGrpSpPr>
        <p:grpSpPr>
          <a:xfrm>
            <a:off x="7901343" y="571882"/>
            <a:ext cx="1886213" cy="1225029"/>
            <a:chOff x="7934105" y="704526"/>
            <a:chExt cx="1886213" cy="1225029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8065A8EB-EF88-87D2-080F-3326CFAFCB1B}"/>
                </a:ext>
              </a:extLst>
            </p:cNvPr>
            <p:cNvSpPr/>
            <p:nvPr/>
          </p:nvSpPr>
          <p:spPr>
            <a:xfrm>
              <a:off x="7934105" y="1044652"/>
              <a:ext cx="1886213" cy="88490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D7C92BC9-4FC8-0985-92D9-F53E268BC2C1}"/>
                </a:ext>
              </a:extLst>
            </p:cNvPr>
            <p:cNvSpPr/>
            <p:nvPr/>
          </p:nvSpPr>
          <p:spPr>
            <a:xfrm>
              <a:off x="8160248" y="1624756"/>
              <a:ext cx="1445342" cy="2261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FC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2D64E0CA-0E64-6897-6D53-2B32A7492557}"/>
                </a:ext>
              </a:extLst>
            </p:cNvPr>
            <p:cNvSpPr/>
            <p:nvPr/>
          </p:nvSpPr>
          <p:spPr>
            <a:xfrm>
              <a:off x="8160248" y="1380916"/>
              <a:ext cx="1445342" cy="2261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GeLu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DCEC69E2-9855-29F9-7D7B-8FE415B5B370}"/>
                </a:ext>
              </a:extLst>
            </p:cNvPr>
            <p:cNvSpPr/>
            <p:nvPr/>
          </p:nvSpPr>
          <p:spPr>
            <a:xfrm>
              <a:off x="8160248" y="1137076"/>
              <a:ext cx="1445342" cy="2261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FC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CA49AF7-3EC6-22EE-74AC-709BF823442A}"/>
                </a:ext>
              </a:extLst>
            </p:cNvPr>
            <p:cNvSpPr/>
            <p:nvPr/>
          </p:nvSpPr>
          <p:spPr>
            <a:xfrm>
              <a:off x="7951977" y="704526"/>
              <a:ext cx="183786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indent="0" algn="ctr">
                <a:buNone/>
              </a:pPr>
              <a:r>
                <a:rPr lang="en-US" altLang="ko-KR" sz="1000" b="0" i="0" dirty="0">
                  <a:solidFill>
                    <a:schemeClr val="tx1"/>
                  </a:solidFill>
                  <a:effectLst/>
                  <a:latin typeface="Courier New" panose="02070309020205020404" pitchFamily="49" charset="0"/>
                </a:rPr>
                <a:t>FC</a:t>
              </a:r>
            </a:p>
            <a:p>
              <a:pPr indent="0" algn="ctr">
                <a:buNone/>
              </a:pPr>
              <a:r>
                <a:rPr lang="en-US" altLang="ko-KR" sz="1000" dirty="0">
                  <a:solidFill>
                    <a:schemeClr val="tx1"/>
                  </a:solidFill>
                  <a:latin typeface="Courier New" panose="02070309020205020404" pitchFamily="49" charset="0"/>
                </a:rPr>
                <a:t>(Fully Connected layer)</a:t>
              </a:r>
              <a:endParaRPr lang="ko-KR" altLang="ko-KR" sz="1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endParaRPr>
            </a:p>
          </p:txBody>
        </p:sp>
      </p:grpSp>
      <p:sp>
        <p:nvSpPr>
          <p:cNvPr id="109" name="순서도: 수동 연산 108">
            <a:extLst>
              <a:ext uri="{FF2B5EF4-FFF2-40B4-BE49-F238E27FC236}">
                <a16:creationId xmlns:a16="http://schemas.microsoft.com/office/drawing/2014/main" id="{CDD943AC-1273-7703-6102-B2B817FD1F77}"/>
              </a:ext>
            </a:extLst>
          </p:cNvPr>
          <p:cNvSpPr/>
          <p:nvPr/>
        </p:nvSpPr>
        <p:spPr>
          <a:xfrm rot="5400000">
            <a:off x="5525135" y="1732187"/>
            <a:ext cx="759948" cy="486585"/>
          </a:xfrm>
          <a:prstGeom prst="flowChartManualOperation">
            <a:avLst/>
          </a:prstGeom>
          <a:solidFill>
            <a:schemeClr val="bg2">
              <a:lumMod val="9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순서도: 수동 연산 110">
            <a:extLst>
              <a:ext uri="{FF2B5EF4-FFF2-40B4-BE49-F238E27FC236}">
                <a16:creationId xmlns:a16="http://schemas.microsoft.com/office/drawing/2014/main" id="{E9D4215C-8CC0-6902-BAF1-8087F82964D4}"/>
              </a:ext>
            </a:extLst>
          </p:cNvPr>
          <p:cNvSpPr/>
          <p:nvPr/>
        </p:nvSpPr>
        <p:spPr>
          <a:xfrm rot="5400000">
            <a:off x="7220162" y="2569495"/>
            <a:ext cx="906276" cy="403567"/>
          </a:xfrm>
          <a:prstGeom prst="flowChartManualOperation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순서도: 수동 연산 112">
            <a:extLst>
              <a:ext uri="{FF2B5EF4-FFF2-40B4-BE49-F238E27FC236}">
                <a16:creationId xmlns:a16="http://schemas.microsoft.com/office/drawing/2014/main" id="{EDAAB231-6844-1C63-2C0F-90CB3BB34FE1}"/>
              </a:ext>
            </a:extLst>
          </p:cNvPr>
          <p:cNvSpPr/>
          <p:nvPr/>
        </p:nvSpPr>
        <p:spPr>
          <a:xfrm rot="10800000">
            <a:off x="8868577" y="3163248"/>
            <a:ext cx="1395591" cy="439754"/>
          </a:xfrm>
          <a:prstGeom prst="flowChartManualOperation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순서도: 수동 연산 114">
            <a:extLst>
              <a:ext uri="{FF2B5EF4-FFF2-40B4-BE49-F238E27FC236}">
                <a16:creationId xmlns:a16="http://schemas.microsoft.com/office/drawing/2014/main" id="{66C1D765-4D05-6DD3-485C-D496A7F350A7}"/>
              </a:ext>
            </a:extLst>
          </p:cNvPr>
          <p:cNvSpPr/>
          <p:nvPr/>
        </p:nvSpPr>
        <p:spPr>
          <a:xfrm rot="5400000">
            <a:off x="7315391" y="1160557"/>
            <a:ext cx="759948" cy="447699"/>
          </a:xfrm>
          <a:prstGeom prst="flowChartManualOperation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41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48E9A5C-C3B6-9873-4835-0F91AA5FC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9304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81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82</Words>
  <Application>Microsoft Office PowerPoint</Application>
  <PresentationFormat>와이드스크린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-apple-system</vt:lpstr>
      <vt:lpstr>맑은 고딕</vt:lpstr>
      <vt:lpstr>Arial</vt:lpstr>
      <vt:lpstr>Consolas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영목 송</dc:creator>
  <cp:lastModifiedBy>영목 송</cp:lastModifiedBy>
  <cp:revision>11</cp:revision>
  <dcterms:created xsi:type="dcterms:W3CDTF">2026-08-18T12:05:30Z</dcterms:created>
  <dcterms:modified xsi:type="dcterms:W3CDTF">2026-08-18T14:14:58Z</dcterms:modified>
</cp:coreProperties>
</file>